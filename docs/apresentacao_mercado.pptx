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E4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2377440" cy="17031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681574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4FFEB"/>
                </a:solidFill>
                <a:latin typeface="Consolas"/>
              </a:rPr>
              <a:t>OPENTES · TIME TTESO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075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400" b="1">
                <a:solidFill>
                  <a:srgbClr val="F4FFEB"/>
                </a:solidFill>
                <a:latin typeface="Exo 2"/>
              </a:rPr>
              <a:t>O mercado transativo entrando na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87414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4FFEB"/>
                </a:solidFill>
                <a:latin typeface="Poppins"/>
              </a:rPr>
              <a:t>A camada de mercado transativo sobre a plataforma de co-simulação: 33 agentes negociando a programação de armazenamento numa rede de distribuição, com a rede de comunicação no laço.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4FFEB"/>
                </a:solidFill>
                <a:latin typeface="Poppins"/>
              </a:rPr>
              <a:t>Douglas Barros · Time TTESO · 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F4FFEB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Quem decide na rede de distribuição deixou de ser só a distribuidora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Com geração solar e armazenamento atrás do medidor, o consumidor vira </a:t>
            </a:r>
            <a:r>
              <a:rPr sz="1200" b="1">
                <a:solidFill>
                  <a:srgbClr val="16241D"/>
                </a:solidFill>
                <a:latin typeface="Poppins"/>
              </a:rPr>
              <a:t>prosumidor</a:t>
            </a:r>
            <a:r>
              <a:rPr sz="1200" b="0">
                <a:solidFill>
                  <a:srgbClr val="35473E"/>
                </a:solidFill>
                <a:latin typeface="Poppins"/>
              </a:rPr>
              <a:t>: produz, armazena e negocia energia. Cada um otimizando o próprio bolso, ao mesmo tempo.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O resultado agregado dessas decisões individuais pode violar a rede que todos compartilham. Baterias carregando juntas de madrugada afundam a tensão; solar injetando junto ao meio-dia levanta demais.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Um </a:t>
            </a:r>
            <a:r>
              <a:rPr sz="1200" b="1">
                <a:solidFill>
                  <a:srgbClr val="16241D"/>
                </a:solidFill>
                <a:latin typeface="Poppins"/>
              </a:rPr>
              <a:t>sistema transativo de energia</a:t>
            </a:r>
            <a:r>
              <a:rPr sz="1200" b="0">
                <a:solidFill>
                  <a:srgbClr val="35473E"/>
                </a:solidFill>
                <a:latin typeface="Poppins"/>
              </a:rPr>
              <a:t> resolve isso por preço, e não por comando: a rede sinaliza onde dói, e quem pode ceder flexibilidade é remunerado por cedê-la.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2048256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A PERGUNTA QUE A PLATAFORMA RESPONDE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6241D"/>
                </a:solidFill>
                <a:latin typeface="Poppins"/>
              </a:rPr>
              <a:t>A negociação entre agentes, com as mensagens passando por uma rede de comunicação real, consegue manter a tensão dentro do limite sem mandar ninguém fazer nada?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POR QUE CO-SIMULAÇÃO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Três domínios que normalmente se simulam separados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Simular só o primeiro dá um estudo de fluxo de potência. Simular os três juntos mostra o que nenhum deles mostra sozinho: por exemplo, que um protocolo de negociação que funciona com entrega instantânea </a:t>
            </a:r>
            <a:r>
              <a:rPr sz="1200" b="1">
                <a:solidFill>
                  <a:srgbClr val="16241D"/>
                </a:solidFill>
                <a:latin typeface="Poppins"/>
              </a:rPr>
              <a:t>perde propostas quando a entrega atrasa</a:t>
            </a:r>
            <a:r>
              <a:rPr sz="1200" b="0">
                <a:solidFill>
                  <a:srgbClr val="35473E"/>
                </a:solidFill>
                <a:latin typeface="Poppins"/>
              </a:rPr>
              <a:t>, e a programação resultante viola justamente a tensão que deveria proteger.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57276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DOMÍNIO ELÉTRICO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Onde a tensão cai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Fluxo de potência não linear, limites de tensão e carregamento de transformador.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3255264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DOMÍNIO DE COMUNICAÇÃO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Se a mensagem chega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Atraso, perda de pacote e roteamento multi-salto entre os agentes.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4937760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DOMÍNIO DE DECISÃO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Quem propõe o quê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Otimização de cada agente e o protocolo de negociação entre eles.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FUNDAMENTO · DEFINIÇÃO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Sistema de energia transativo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332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Definição adotada na tese de referência, a partir de Abrishambaf et al. (2019).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Sistema de mecanismos econômicos e de controle que permite o </a:t>
            </a:r>
            <a:r>
              <a:rPr sz="1000" b="1">
                <a:solidFill>
                  <a:srgbClr val="16241D"/>
                </a:solidFill>
                <a:latin typeface="Poppins"/>
              </a:rPr>
              <a:t>equilíbrio dinâmico entre geração e demanda</a:t>
            </a:r>
            <a:r>
              <a:rPr sz="1000" b="0">
                <a:solidFill>
                  <a:srgbClr val="35473E"/>
                </a:solidFill>
                <a:latin typeface="Poppins"/>
              </a:rPr>
              <a:t> ao longo de toda a infraestrutura da rede elétrica, utilizando </a:t>
            </a:r>
            <a:r>
              <a:rPr sz="1000" b="1">
                <a:solidFill>
                  <a:srgbClr val="16241D"/>
                </a:solidFill>
                <a:latin typeface="Poppins"/>
              </a:rPr>
              <a:t>valor econômico como parâmetro operacional</a:t>
            </a:r>
            <a:r>
              <a:rPr sz="1000" b="0">
                <a:solidFill>
                  <a:srgbClr val="35473E"/>
                </a:solidFill>
                <a:latin typeface="Poppin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O QUE O MOVE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Preço, não comando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O sinal que coordena não é uma ordem de despacho, é um valor. Quem pode ceder flexibilidade responde a ele.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8716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ONDE ELE AGE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Toda a infraestrutura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Da unidade consumidora à subestação, e não apenas no atacado.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8444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O QUE ELE EQUILIBRA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Geração e demanda, em tempo real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O equilíbrio é dinâmico: reavaliado a cada intervalo de 15 minutos.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FUNDAMENTO · POR QUE CO-SIMULAÇÃO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Quatro naturezas diferentes no mesmo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332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Nenhuma ferramenta única trata bem as quatro. A co-simulação mantém cada domínio no simulador que o representa melhor e </a:t>
            </a:r>
            <a:r>
              <a:rPr sz="1200" b="1">
                <a:solidFill>
                  <a:srgbClr val="16241D"/>
                </a:solidFill>
                <a:latin typeface="Poppins"/>
              </a:rPr>
              <a:t>sincroniza o tempo</a:t>
            </a:r>
            <a:r>
              <a:rPr sz="1200" b="0">
                <a:solidFill>
                  <a:srgbClr val="35473E"/>
                </a:solidFill>
                <a:latin typeface="Poppins"/>
              </a:rPr>
              <a:t> entre eles, em vez de forçar tudo num modelo só.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É a mesma justificativa da tese de referência, que trata a co-simulação como um meta-modelo de simulação e adota o Mosaik como co-simulador.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CONTÍNUO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Processos físicos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O fluxo de potência na rede elétrica.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DISCRETO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Tecnologia da informação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Mensagens, atrasos e perdas na rede de comunicação.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8716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ESTOCÁSTICO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Processos incertos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Clima, irradiância e comportamento do usuário.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8444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DECISÃO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Comportamentos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Controle e negociação, por sistemas multiagentes.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FUNDAMENTO · 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Por que sistemas multiagentes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Um agente é uma entidade de software com três características que interessam aqui: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1">
                <a:solidFill>
                  <a:srgbClr val="16241D"/>
                </a:solidFill>
                <a:latin typeface="Poppins"/>
              </a:rPr>
              <a:t>Autonomia</a:t>
            </a:r>
            <a:r>
              <a:rPr sz="1200" b="0">
                <a:solidFill>
                  <a:srgbClr val="35473E"/>
                </a:solidFill>
                <a:latin typeface="Poppins"/>
              </a:rPr>
              <a:t> — decide sozinho, a partir do próprio objetivo, sem receber ordem de um controlador central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1">
                <a:solidFill>
                  <a:srgbClr val="16241D"/>
                </a:solidFill>
                <a:latin typeface="Poppins"/>
              </a:rPr>
              <a:t>Proatividade</a:t>
            </a:r>
            <a:r>
              <a:rPr sz="1200" b="0">
                <a:solidFill>
                  <a:srgbClr val="35473E"/>
                </a:solidFill>
                <a:latin typeface="Poppins"/>
              </a:rPr>
              <a:t> — toma iniciativa, não apenas responde a estímulo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1">
                <a:solidFill>
                  <a:srgbClr val="16241D"/>
                </a:solidFill>
                <a:latin typeface="Poppins"/>
              </a:rPr>
              <a:t>Sociabilidade</a:t>
            </a:r>
            <a:r>
              <a:rPr sz="1200" b="0">
                <a:solidFill>
                  <a:srgbClr val="35473E"/>
                </a:solidFill>
                <a:latin typeface="Poppins"/>
              </a:rPr>
              <a:t> — conversa com outros agentes por um protocolo padronizado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São exatamente os requisitos de um mercado: participantes com interesses próprios que precisam chegar a um acordo sem uma autoridade que arbitre.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57276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A PLATAFORMA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PADE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Python Agent DEvelopment framework, desenvolvido no próprio grupo. Implementa os padrões da </a:t>
            </a:r>
            <a:r>
              <a:rPr sz="1000" b="1">
                <a:solidFill>
                  <a:srgbClr val="16241D"/>
                </a:solidFill>
                <a:latin typeface="Poppins"/>
              </a:rPr>
              <a:t>FIPA</a:t>
            </a:r>
            <a:r>
              <a:rPr sz="1000" b="0">
                <a:solidFill>
                  <a:srgbClr val="35473E"/>
                </a:solidFill>
                <a:latin typeface="Poppins"/>
              </a:rPr>
              <a:t>: linguagem de comunicação, protocolos de interação e ambiente de execução.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6241D"/>
                </a:solidFill>
                <a:latin typeface="Poppins"/>
              </a:rPr>
              <a:t>O que mudou nesta etapa:</a:t>
            </a:r>
            <a:r>
              <a:rPr sz="1000" b="0">
                <a:solidFill>
                  <a:srgbClr val="35473E"/>
                </a:solidFill>
                <a:latin typeface="Poppins"/>
              </a:rPr>
              <a:t> a tese usava PADE 2.2 com Python 3.6 e um módulo de integração com o ns-3 que </a:t>
            </a:r>
            <a:r>
              <a:rPr sz="1000" b="1">
                <a:solidFill>
                  <a:srgbClr val="16241D"/>
                </a:solidFill>
                <a:latin typeface="Poppins"/>
              </a:rPr>
              <a:t>não existe mais</a:t>
            </a:r>
            <a:r>
              <a:rPr sz="1000" b="0">
                <a:solidFill>
                  <a:srgbClr val="35473E"/>
                </a:solidFill>
                <a:latin typeface="Poppins"/>
              </a:rPr>
              <a:t> na versão 3.0. A modernização para Python 3.12 e a reconstrução dessa camada são entrega deste projeto.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FUNDAMENTO · O MODELO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Dois ambientes de contratação, mais um de 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1.  </a:t>
            </a:r>
            <a:r>
              <a:rPr sz="1200" b="1">
                <a:solidFill>
                  <a:srgbClr val="16241D"/>
                </a:solidFill>
                <a:latin typeface="Poppins"/>
              </a:rPr>
              <a:t>Mercado futuro bilateral, de tarifa fixa.</a:t>
            </a:r>
            <a:r>
              <a:rPr sz="1200" b="0">
                <a:solidFill>
                  <a:srgbClr val="35473E"/>
                </a:solidFill>
                <a:latin typeface="Poppins"/>
              </a:rPr>
              <a:t> O prosumidor contrata com antecedência a um preço combinado. Só pode comprar, nunca revender.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2.  </a:t>
            </a:r>
            <a:r>
              <a:rPr sz="1200" b="1">
                <a:solidFill>
                  <a:srgbClr val="16241D"/>
                </a:solidFill>
                <a:latin typeface="Poppins"/>
              </a:rPr>
              <a:t>Mercado spot de tempo real.</a:t>
            </a:r>
            <a:r>
              <a:rPr sz="1200" b="0">
                <a:solidFill>
                  <a:srgbClr val="35473E"/>
                </a:solidFill>
                <a:latin typeface="Poppins"/>
              </a:rPr>
              <a:t> Preço informado 15 minutos antes da entrega. Aqui o prosumidor pode comprar e vender, e é onde a incerteza entra na decisão dele.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3.  </a:t>
            </a:r>
            <a:r>
              <a:rPr sz="1200" b="1">
                <a:solidFill>
                  <a:srgbClr val="16241D"/>
                </a:solidFill>
                <a:latin typeface="Poppins"/>
              </a:rPr>
              <a:t>Ambiente de validação, o mercado de restrições.</a:t>
            </a:r>
            <a:r>
              <a:rPr sz="1200" b="0">
                <a:solidFill>
                  <a:srgbClr val="35473E"/>
                </a:solidFill>
                <a:latin typeface="Poppins"/>
              </a:rPr>
              <a:t> A distribuidora verifica se o conjunto das propostas cabe na rede. Quando não cabe, a precificação é alterada até caber. É onde nasce o preço locacional.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57276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A IDEIA CENTRAL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A rede não proíbe: ela </a:t>
            </a:r>
            <a:r>
              <a:rPr sz="1000" b="1">
                <a:solidFill>
                  <a:srgbClr val="16241D"/>
                </a:solidFill>
                <a:latin typeface="Poppins"/>
              </a:rPr>
              <a:t>encarece</a:t>
            </a:r>
            <a:r>
              <a:rPr sz="1000" b="0">
                <a:solidFill>
                  <a:srgbClr val="35473E"/>
                </a:solidFill>
                <a:latin typeface="Poppins"/>
              </a:rPr>
              <a:t>. Quem insistir em consumir onde a rede aperta paga mais; quem ceder é remunerado. O despacho sai do bolso de cada um, e não de uma ordem.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FUNDAMENTO · A ARQUITETURA DE REFERÊNCIA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De um modelo geral para uma aplicação transativa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6241D"/>
                </a:solidFill>
                <a:latin typeface="Poppins"/>
              </a:rPr>
              <a:t>É o SiMTES que este trabalho implementa</a:t>
            </a:r>
            <a:r>
              <a:rPr sz="1200" b="0">
                <a:solidFill>
                  <a:srgbClr val="35473E"/>
                </a:solidFill>
                <a:latin typeface="Poppins"/>
              </a:rPr>
              <a:t>, sobre a mesma rede e com o mesmo comportamento de mercado. O que muda são as ferramentas de cada camada, e cada troca tem motivo.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57276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SiMSG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Um modelo de simulação para redes elétricas inteligentes em geral. Define quais blocos existem, o que cada um representa e como se relacionam. Combina três ingredientes: co-simulação, sistemas multiagentes e uma metodologia de implementação por reaproveitamento de modelos.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3255264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SiMTES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Uma instância do SiMSG aplicada a sistemas transativos. Acrescenta os quatro papéis de agente, os modelos de otimização de cada um e o mecanismo de descoberta de preço.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FUNDAMENTO · O QUE TROCAMOS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Mesma arquitetura, ferramentas diferentes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72768"/>
          <a:ext cx="10637215" cy="1874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6"/>
              </a:tblGrid>
              <a:tr h="37490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Camada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Tese, 2022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Aqui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Motivo da troca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Agentes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PADE 2.2, Python 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PADE 3.0, Python 3.12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A versão antiga não roda em Python moderno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Comunicação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ns-3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OMNeT++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O módulo de integração com o ns-3 foi removido do PADE 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Rede elétrica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pandapower e MyGrid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OpenDSS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Os dois modelos da mesma rede divergiam entre 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Otimização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CPLEX com PySP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CPLEX com Pyomo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O PySP foi removido do Pyomo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DE ONDE VIEMOS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O que a plataforma já fazia, e o que o mercado acrescenta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4447" y="2048256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Cenário IEEE 13 barras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Validou a plataforma de co-simulação de ponta a ponta, e continua sendo o cenário de referência para o controle local.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2F5E4B"/>
                </a:solidFill>
                <a:latin typeface="Consolas"/>
              </a:rPr>
              <a:t>○  </a:t>
            </a:r>
            <a:r>
              <a:rPr sz="1000" b="0">
                <a:solidFill>
                  <a:srgbClr val="35473E"/>
                </a:solidFill>
                <a:latin typeface="Poppins"/>
              </a:rPr>
              <a:t>13 barras, 5 inversores fotovoltaicos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2F5E4B"/>
                </a:solidFill>
                <a:latin typeface="Consolas"/>
              </a:rPr>
              <a:t>○  </a:t>
            </a:r>
            <a:r>
              <a:rPr sz="1000" b="0">
                <a:solidFill>
                  <a:srgbClr val="35473E"/>
                </a:solidFill>
                <a:latin typeface="Poppins"/>
              </a:rPr>
              <a:t>Controle </a:t>
            </a:r>
            <a:r>
              <a:rPr sz="1000" b="1">
                <a:solidFill>
                  <a:srgbClr val="16241D"/>
                </a:solidFill>
                <a:latin typeface="Poppins"/>
              </a:rPr>
              <a:t>Volt/Var</a:t>
            </a:r>
            <a:r>
              <a:rPr sz="1000" b="0">
                <a:solidFill>
                  <a:srgbClr val="35473E"/>
                </a:solidFill>
                <a:latin typeface="Poppins"/>
              </a:rPr>
              <a:t>: o inversor reage à tensão que ele mesmo mede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2F5E4B"/>
                </a:solidFill>
                <a:latin typeface="Consolas"/>
              </a:rPr>
              <a:t>○  </a:t>
            </a:r>
            <a:r>
              <a:rPr sz="1000" b="0">
                <a:solidFill>
                  <a:srgbClr val="35473E"/>
                </a:solidFill>
                <a:latin typeface="Poppins"/>
              </a:rPr>
              <a:t>Os agentes trocam medição e comando pela rede de comunicação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2F5E4B"/>
                </a:solidFill>
                <a:latin typeface="Consolas"/>
              </a:rPr>
              <a:t>○  </a:t>
            </a:r>
            <a:r>
              <a:rPr sz="1000" b="0">
                <a:solidFill>
                  <a:srgbClr val="35473E"/>
                </a:solidFill>
                <a:latin typeface="Poppins"/>
              </a:rPr>
              <a:t>Mostrou que a cadeia elétrica, de comunicação e de agentes fecha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3730752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Cenário de mercado transativo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Acrescenta uma camada de decisão econômica sobre a mesma plataforma.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2F5E4B"/>
                </a:solidFill>
                <a:latin typeface="Consolas"/>
              </a:rPr>
              <a:t>○  </a:t>
            </a:r>
            <a:r>
              <a:rPr sz="1000" b="0">
                <a:solidFill>
                  <a:srgbClr val="35473E"/>
                </a:solidFill>
                <a:latin typeface="Poppins"/>
              </a:rPr>
              <a:t>75 barras, 34 com geração e 48 com armazenamento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2F5E4B"/>
                </a:solidFill>
                <a:latin typeface="Consolas"/>
              </a:rPr>
              <a:t>○  </a:t>
            </a:r>
            <a:r>
              <a:rPr sz="1000" b="1">
                <a:solidFill>
                  <a:srgbClr val="16241D"/>
                </a:solidFill>
                <a:latin typeface="Poppins"/>
              </a:rPr>
              <a:t>33 agentes negociando</a:t>
            </a:r>
            <a:r>
              <a:rPr sz="1000" b="0">
                <a:solidFill>
                  <a:srgbClr val="35473E"/>
                </a:solidFill>
                <a:latin typeface="Poppins"/>
              </a:rPr>
              <a:t>: prosumidores, concentradores, DSO e mercado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2F5E4B"/>
                </a:solidFill>
                <a:latin typeface="Consolas"/>
              </a:rPr>
              <a:t>○  </a:t>
            </a:r>
            <a:r>
              <a:rPr sz="1000" b="0">
                <a:solidFill>
                  <a:srgbClr val="35473E"/>
                </a:solidFill>
                <a:latin typeface="Poppins"/>
              </a:rPr>
              <a:t>Cada agente resolve o próprio problema de otimização</a:t>
            </a:r>
          </a:p>
          <a:p>
            <a:pPr algn="l">
              <a:spcAft>
                <a:spcPts val="300"/>
              </a:spcAft>
            </a:pPr>
            <a:r>
              <a:rPr sz="1000">
                <a:solidFill>
                  <a:srgbClr val="2F5E4B"/>
                </a:solidFill>
                <a:latin typeface="Consolas"/>
              </a:rPr>
              <a:t>○  </a:t>
            </a:r>
            <a:r>
              <a:rPr sz="1000" b="0">
                <a:solidFill>
                  <a:srgbClr val="35473E"/>
                </a:solidFill>
                <a:latin typeface="Poppins"/>
              </a:rPr>
              <a:t>O despacho sai de um </a:t>
            </a:r>
            <a:r>
              <a:rPr sz="1000" b="1">
                <a:solidFill>
                  <a:srgbClr val="16241D"/>
                </a:solidFill>
                <a:latin typeface="Poppins"/>
              </a:rPr>
              <a:t>preço</a:t>
            </a:r>
            <a:r>
              <a:rPr sz="1000" b="0">
                <a:solidFill>
                  <a:srgbClr val="35473E"/>
                </a:solidFill>
                <a:latin typeface="Poppins"/>
              </a:rPr>
              <a:t>, e não de uma curva de resposta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541324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UMA RESSALVA HONESTA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As duas redes são diferentes, com portes e perfis de carga diferentes, então </a:t>
            </a:r>
            <a:r>
              <a:rPr sz="1000" b="1">
                <a:solidFill>
                  <a:srgbClr val="16241D"/>
                </a:solidFill>
                <a:latin typeface="Poppins"/>
              </a:rPr>
              <a:t>comparar os números de tensão entre elas seria injusto</a:t>
            </a:r>
            <a:r>
              <a:rPr sz="1000" b="0">
                <a:solidFill>
                  <a:srgbClr val="35473E"/>
                </a:solidFill>
                <a:latin typeface="Poppins"/>
              </a:rPr>
              <a:t> e não é o que se propõe aqui. O que muda de fato é a </a:t>
            </a:r>
            <a:r>
              <a:rPr sz="1000" b="0">
                <a:solidFill>
                  <a:srgbClr val="35473E"/>
                </a:solidFill>
                <a:latin typeface="Poppins"/>
              </a:rPr>
              <a:t>natureza</a:t>
            </a:r>
            <a:r>
              <a:rPr sz="1000" b="0">
                <a:solidFill>
                  <a:srgbClr val="35473E"/>
                </a:solidFill>
                <a:latin typeface="Poppins"/>
              </a:rPr>
              <a:t> da decisão: no Volt/Var o inversor segue uma curva pré-definida; no mercado, o prosumidor propõe, o DSO contesta quando a rede não aguenta, e o preço concilia os dois.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ARQUITETURA DE 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Quatro papéis, 33 agentes num processo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3328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Sobre </a:t>
            </a:r>
            <a:r>
              <a:rPr sz="1200" b="1">
                <a:solidFill>
                  <a:srgbClr val="16241D"/>
                </a:solidFill>
                <a:latin typeface="Poppins"/>
              </a:rPr>
              <a:t>PADE 3.0</a:t>
            </a:r>
            <a:r>
              <a:rPr sz="1200" b="0">
                <a:solidFill>
                  <a:srgbClr val="35473E"/>
                </a:solidFill>
                <a:latin typeface="Poppins"/>
              </a:rPr>
              <a:t>, com protocolos FIPA padronizados: ContractNet para os leilões, Subscribe para o despacho. Mais um agente de solução, que roda os modelos de otimização fora do laço de eventos.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AP · 25 AGENTES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Prosumidor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Faz o papel de um gerenciador de energia residencial. Programa a própria bateria e decide quanto comprar no mercado bilateral e no spot, sob incerteza.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AC · 5 AGENTES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Concentrador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Um por transformador. Agrega as propostas dos prosumidores sob ele e despacha o armazenamento de rede que o DSO determina.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8716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AD · 1 AGENTE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DSO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Detém o modelo da rede. Verifica tensão e carregamento, e recusa programações que violem a operação.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8444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AM · 1 AGENTE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Mercado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Coordena a descoberta de preço. Abre as rodadas, coleta as propostas e atualiza λ até haver acordo.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ARQUITETURA DE AGENTES · O CONCEITO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A hierarquia que estrutura a negociação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72768"/>
            <a:ext cx="5135727" cy="28497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1572768"/>
            <a:ext cx="5135727" cy="3002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685130"/>
            <a:ext cx="51357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4786C"/>
                </a:solidFill>
                <a:latin typeface="Poppins"/>
              </a:rPr>
              <a:t>Dispositivos, concentradores e o agente leiloeiro trocando lance e preço. Conceito de KOK (2013), reproduzido em MELO (2022).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4685130"/>
            <a:ext cx="5135727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4786C"/>
                </a:solidFill>
                <a:latin typeface="Poppins"/>
              </a:rPr>
              <a:t>Os quatro papéis posicionados sobre a rede: prosumidor na unidade consumidora, concentrador no transformador, DSO e mercado na subestação. MELO (2022).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6120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4786C"/>
                </a:solidFill>
                <a:latin typeface="Poppins"/>
              </a:rPr>
              <a:t>É essa hierarquia que a implementação reproduz, com os 33 agentes rodando sobre PADE 3.0 e conversando por protocolos FIPA.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Quatro simuladores, um maestro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22" y="1572768"/>
            <a:ext cx="7649250" cy="41239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24727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86C"/>
                </a:solidFill>
                <a:latin typeface="Poppins"/>
              </a:rPr>
              <a:t>Blocos da co-simulação e como se ligam. O Mosaik decide quem executa em cada instante e transporta os dados; nenhum simulador conhece os demais. Releitura da arquitetura de referência (MELO, 2022, Fig. 33) com as ferramentas adotadas aqui.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A PLATAFORMA ·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Um contêiner por simulador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1">
                <a:solidFill>
                  <a:srgbClr val="16241D"/>
                </a:solidFill>
                <a:latin typeface="Poppins"/>
              </a:rPr>
              <a:t>PADE 3.0</a:t>
            </a:r>
            <a:r>
              <a:rPr sz="1200" b="0">
                <a:solidFill>
                  <a:srgbClr val="35473E"/>
                </a:solidFill>
                <a:latin typeface="Poppins"/>
              </a:rPr>
              <a:t> hospeda os 33 agentes num processo, com os protocolos FIPA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1">
                <a:solidFill>
                  <a:srgbClr val="16241D"/>
                </a:solidFill>
                <a:latin typeface="Poppins"/>
              </a:rPr>
              <a:t>OMNeT++</a:t>
            </a:r>
            <a:r>
              <a:rPr sz="1200" b="0">
                <a:solidFill>
                  <a:srgbClr val="35473E"/>
                </a:solidFill>
                <a:latin typeface="Poppins"/>
              </a:rPr>
              <a:t> responde consultas de rota da rede 6TiSCH por ZMQ, fora do passo do Mosaik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1">
                <a:solidFill>
                  <a:srgbClr val="16241D"/>
                </a:solidFill>
                <a:latin typeface="Poppins"/>
              </a:rPr>
              <a:t>OpenDSS</a:t>
            </a:r>
            <a:r>
              <a:rPr sz="1200" b="0">
                <a:solidFill>
                  <a:srgbClr val="35473E"/>
                </a:solidFill>
                <a:latin typeface="Poppins"/>
              </a:rPr>
              <a:t>, via </a:t>
            </a:r>
            <a:r>
              <a:rPr sz="1200" b="0">
                <a:solidFill>
                  <a:srgbClr val="35473E"/>
                </a:solidFill>
                <a:latin typeface="Poppins"/>
              </a:rPr>
              <a:t>py-dss-interface</a:t>
            </a:r>
            <a:r>
              <a:rPr sz="1200" b="0">
                <a:solidFill>
                  <a:srgbClr val="35473E"/>
                </a:solidFill>
                <a:latin typeface="Poppins"/>
              </a:rPr>
              <a:t>, resolve o fluxo de potência não linear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1">
                <a:solidFill>
                  <a:srgbClr val="16241D"/>
                </a:solidFill>
                <a:latin typeface="Poppins"/>
              </a:rPr>
              <a:t>Pyomo com CPLEX</a:t>
            </a:r>
            <a:r>
              <a:rPr sz="1200" b="0">
                <a:solidFill>
                  <a:srgbClr val="35473E"/>
                </a:solidFill>
                <a:latin typeface="Poppins"/>
              </a:rPr>
              <a:t> resolve os modelos de cada agente, fora do laço de eventos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57276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REPRODUTIBILIDADE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Um comando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./run.sh market</a:t>
            </a:r>
            <a:r>
              <a:rPr sz="1000" b="0">
                <a:solidFill>
                  <a:srgbClr val="35473E"/>
                </a:solidFill>
                <a:latin typeface="Poppins"/>
              </a:rPr>
              <a:t> sobe tudo, roda as duas passadas e grava os resultados.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Cada figura sai carimbada com a configuração que a produziu, para que duas execuções diferentes não sejam confundidas.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O CASO DE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A rede MVLV75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64208"/>
            <a:ext cx="185312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75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barras: 7 em 13,8 kV e 68 em 380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4683" y="1664208"/>
            <a:ext cx="185312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5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transformadores de 45, 75 e 112,5 kVA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2126" y="1664208"/>
            <a:ext cx="185312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34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barras com geração solar, 50% das de baixa tensão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569" y="1664208"/>
            <a:ext cx="185312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25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barras com armazenamento de prosumidor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7012" y="1664208"/>
            <a:ext cx="185312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23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barras com armazenamento de rede, despachado pelo DSO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157276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COMO ELA CHEGOU AQUI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O grafo da tese foi convertido para um circuito OpenDSS completo. A validação comparou barra a barra contra o modelo de referência em seis cenários de carga, incluindo um com fluxo reverso. </a:t>
            </a:r>
            <a:r>
              <a:rPr sz="1000" b="1">
                <a:solidFill>
                  <a:srgbClr val="16241D"/>
                </a:solidFill>
                <a:latin typeface="Poppins"/>
              </a:rPr>
              <a:t>Pior desvio: 2,08×10-5 pu.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3255264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HORIZONTE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24 horas em 96 intervalos de 15 minutos. Limites operacionais de </a:t>
            </a:r>
            <a:r>
              <a:rPr sz="1000" b="1">
                <a:solidFill>
                  <a:srgbClr val="16241D"/>
                </a:solidFill>
                <a:latin typeface="Poppins"/>
              </a:rPr>
              <a:t>0,97 a 1,03 pu</a:t>
            </a:r>
            <a:r>
              <a:rPr sz="1000" b="0">
                <a:solidFill>
                  <a:srgbClr val="35473E"/>
                </a:solidFill>
                <a:latin typeface="Poppins"/>
              </a:rPr>
              <a:t>. A programação é feita no dia anterior; a operação corrige a cada 15 minutos.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O CASO DE ESTUDO · TOPOLOGIA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Onde estão a geração e o armazenamento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135" y="1572768"/>
            <a:ext cx="7641425" cy="41239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24727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86C"/>
                </a:solidFill>
                <a:latin typeface="Poppins"/>
              </a:rPr>
              <a:t>Diagrama unifilar da rede de teste: 5 transformadores de 13,8 para 0,38 kV, os módulos fotovoltaicos, o armazenamento de prosumidor (azul) e o armazenamento de rede despachado pelo DSO (vermelho). Topologia da tese de referência (MELO, 2022).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O QUE CADA AGENTE 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Três problemas de otimização, um por papel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4447" y="157276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PROSUMIDOR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Minimiza o custo esperado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Decide em dois estágios: quanto contratar no bilateral e como programar a bateria; depois, os lances no spot, por cenário.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Programação quadrática inteira mista, com binárias que impedem carregar e descarregar ao mesmo tempo.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3255264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CONCENTRADOR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Defende os prosumidores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Minimiza o desvio da programação proposta, penalizado pelo preço λ, com uma garantia mínima de energia entregue.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Problema quadrático.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4937760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DSO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Defende a rede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Minimiza o desvio da programação, ponderando prosumidor e armazenamento de rede, sujeito a tensão e carregamento.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O sinal de λ entra invertido em relação ao concentrador: é a disputa, posta na função objetivo.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COMO ELES CHEGAM A ACORDO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O preço não é arbitrado, é descoberto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1.  </a:t>
            </a:r>
            <a:r>
              <a:rPr sz="1200" b="0">
                <a:solidFill>
                  <a:srgbClr val="35473E"/>
                </a:solidFill>
                <a:latin typeface="Poppins"/>
              </a:rPr>
              <a:t>O concentrador propõe uma programação </a:t>
            </a:r>
            <a:r>
              <a:rPr sz="1200" b="1">
                <a:solidFill>
                  <a:srgbClr val="16241D"/>
                </a:solidFill>
                <a:latin typeface="Poppins"/>
              </a:rPr>
              <a:t>x</a:t>
            </a:r>
            <a:r>
              <a:rPr sz="1200" b="0">
                <a:solidFill>
                  <a:srgbClr val="35473E"/>
                </a:solidFill>
                <a:latin typeface="Poppins"/>
              </a:rPr>
              <a:t> que serve aos prosumidores dele.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2.  </a:t>
            </a:r>
            <a:r>
              <a:rPr sz="1200" b="0">
                <a:solidFill>
                  <a:srgbClr val="35473E"/>
                </a:solidFill>
                <a:latin typeface="Poppins"/>
              </a:rPr>
              <a:t>O DSO responde com a programação </a:t>
            </a:r>
            <a:r>
              <a:rPr sz="1200" b="1">
                <a:solidFill>
                  <a:srgbClr val="16241D"/>
                </a:solidFill>
                <a:latin typeface="Poppins"/>
              </a:rPr>
              <a:t>y</a:t>
            </a:r>
            <a:r>
              <a:rPr sz="1200" b="0">
                <a:solidFill>
                  <a:srgbClr val="35473E"/>
                </a:solidFill>
                <a:latin typeface="Poppins"/>
              </a:rPr>
              <a:t> que a rede aguenta.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3.  </a:t>
            </a:r>
            <a:r>
              <a:rPr sz="1200" b="0">
                <a:solidFill>
                  <a:srgbClr val="35473E"/>
                </a:solidFill>
                <a:latin typeface="Poppins"/>
              </a:rPr>
              <a:t>O agente de mercado mede a discordância e ajusta o preço: </a:t>
            </a:r>
            <a:r>
              <a:rPr sz="1200" b="0">
                <a:solidFill>
                  <a:srgbClr val="35473E"/>
                </a:solidFill>
                <a:latin typeface="Poppins"/>
              </a:rPr>
              <a:t>λ ← λ + α(x − y)</a:t>
            </a:r>
            <a:r>
              <a:rPr sz="1200" b="0">
                <a:solidFill>
                  <a:srgbClr val="35473E"/>
                </a:solidFill>
                <a:latin typeface="Poppins"/>
              </a:rPr>
              <a:t>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4.  </a:t>
            </a:r>
            <a:r>
              <a:rPr sz="1200" b="0">
                <a:solidFill>
                  <a:srgbClr val="35473E"/>
                </a:solidFill>
                <a:latin typeface="Poppins"/>
              </a:rPr>
              <a:t>Com o preço novo, os dois recalculam. Repete até </a:t>
            </a:r>
            <a:r>
              <a:rPr sz="1200" b="1">
                <a:solidFill>
                  <a:srgbClr val="16241D"/>
                </a:solidFill>
                <a:latin typeface="Poppins"/>
              </a:rPr>
              <a:t>x ≈ y</a:t>
            </a:r>
            <a:r>
              <a:rPr sz="1200" b="0">
                <a:solidFill>
                  <a:srgbClr val="35473E"/>
                </a:solidFill>
                <a:latin typeface="Poppins"/>
              </a:rPr>
              <a:t>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Onde a rede não aperta, a discordância é zero desde a primeira rodada e o preço fica em zero. O preço aparece </a:t>
            </a:r>
            <a:r>
              <a:rPr sz="1200" b="1">
                <a:solidFill>
                  <a:srgbClr val="16241D"/>
                </a:solidFill>
                <a:latin typeface="Poppins"/>
              </a:rPr>
              <a:t>só onde e quando há conflito</a:t>
            </a:r>
            <a:r>
              <a:rPr sz="1200" b="0">
                <a:solidFill>
                  <a:srgbClr val="35473E"/>
                </a:solidFill>
                <a:latin typeface="Poppin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57276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UM DETALHE QUE VALE A ATENÇÃO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λ é o multiplicador de Lagrange da restrição de acoplamento. Ele é </a:t>
            </a:r>
            <a:r>
              <a:rPr sz="1000" b="1">
                <a:solidFill>
                  <a:srgbClr val="16241D"/>
                </a:solidFill>
                <a:latin typeface="Poppins"/>
              </a:rPr>
              <a:t>propriedade do problema</a:t>
            </a:r>
            <a:r>
              <a:rPr sz="1000" b="0">
                <a:solidFill>
                  <a:srgbClr val="35473E"/>
                </a:solidFill>
                <a:latin typeface="Poppins"/>
              </a:rPr>
              <a:t>, não do algoritmo: dois métodos convergentes chegam ao mesmo λ, em número diferente de rodadas.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Isso virou ferramenta de diagnóstico. Quando o nosso λ não batia com o da tese, a conclusão não era "o algoritmo está errado", e sim "os problemas são diferentes" — e deu para medir exatamente em quê.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A RESTRIÇÃO QUE AMARRA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Como o DSO sabe que a tensão vai violar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50900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A tensão é linearizada em torno do ponto de operação por uma matriz de sensibilidade: quanto cada quilowatt injetado em cada nó move a tensão de todos os outros.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O trabalho original extraía essa matriz do jacobiano de um </a:t>
            </a:r>
            <a:r>
              <a:rPr sz="1200" b="1">
                <a:solidFill>
                  <a:srgbClr val="16241D"/>
                </a:solidFill>
                <a:latin typeface="Poppins"/>
              </a:rPr>
              <a:t>segundo simulador de rede</a:t>
            </a:r>
            <a:r>
              <a:rPr sz="1200" b="0">
                <a:solidFill>
                  <a:srgbClr val="35473E"/>
                </a:solidFill>
                <a:latin typeface="Poppins"/>
              </a:rPr>
              <a:t>, o que obrigava a manter dois modelos da mesma rede — que, no repositório de referência, divergiam entre si em transformador e em modelo de carga.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Foi acrescentada também a sensibilidade ao </a:t>
            </a:r>
            <a:r>
              <a:rPr sz="1200" b="1">
                <a:solidFill>
                  <a:srgbClr val="16241D"/>
                </a:solidFill>
                <a:latin typeface="Poppins"/>
              </a:rPr>
              <a:t>reativo</a:t>
            </a:r>
            <a:r>
              <a:rPr sz="1200" b="0">
                <a:solidFill>
                  <a:srgbClr val="35473E"/>
                </a:solidFill>
                <a:latin typeface="Poppins"/>
              </a:rPr>
              <a:t>, que a formulação original despreza. Ela não muda o caso da tese, mas mostra que a hipótese é condicional: se o inversor mantiver fator de potência constante, ignorar o reativo leva de 5 para </a:t>
            </a:r>
            <a:r>
              <a:rPr sz="1200" b="1">
                <a:solidFill>
                  <a:srgbClr val="16241D"/>
                </a:solidFill>
                <a:latin typeface="Poppins"/>
              </a:rPr>
              <a:t>117</a:t>
            </a:r>
            <a:r>
              <a:rPr sz="1200" b="0">
                <a:solidFill>
                  <a:srgbClr val="35473E"/>
                </a:solidFill>
                <a:latin typeface="Poppins"/>
              </a:rPr>
              <a:t> pontos violados.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4447" y="1572768"/>
            <a:ext cx="5090007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CONTRIBUIÇÃO DESTE TRABALHO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Sensibilidade por perturbação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A mesma matriz é obtida perturbando a potência de cada nó no próprio OpenDSS e medindo a variação de tensão. Um simulador só, e o método não depende de o solver expor o jacobiano.</a:t>
            </a:r>
          </a:p>
          <a:p>
            <a:pPr algn="l">
              <a:spcAft>
                <a:spcPts val="300"/>
              </a:spcAft>
            </a:pPr>
            <a:r>
              <a:rPr sz="1000" b="1">
                <a:solidFill>
                  <a:srgbClr val="16241D"/>
                </a:solidFill>
                <a:latin typeface="Poppins"/>
              </a:rPr>
              <a:t>Validação:</a:t>
            </a:r>
            <a:r>
              <a:rPr sz="1000" b="0">
                <a:solidFill>
                  <a:srgbClr val="35473E"/>
                </a:solidFill>
                <a:latin typeface="Poppins"/>
              </a:rPr>
              <a:t> erro relativo mediano de </a:t>
            </a:r>
            <a:r>
              <a:rPr sz="1000" b="1">
                <a:solidFill>
                  <a:srgbClr val="16241D"/>
                </a:solidFill>
                <a:latin typeface="Poppins"/>
              </a:rPr>
              <a:t>0,04%</a:t>
            </a:r>
            <a:r>
              <a:rPr sz="1000" b="0">
                <a:solidFill>
                  <a:srgbClr val="35473E"/>
                </a:solidFill>
                <a:latin typeface="Poppins"/>
              </a:rPr>
              <a:t> contra o jacobiano de referência.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O MERCADO EM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Três ciclos de mensagens, dentro de cada janela de 15 minutos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MINUTO 1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Concentrador → prosumidores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Cada concentrador pede a programação aos prosumidores sob o seu transformador.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2048256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MINUTO 5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DSO → concentradores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O DSO recolhe as programações agregadas e verifica as restrições da rede.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8716" y="2048256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MINUTO 10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Mercado → concentradores e DSO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Se houve violação, abre-se a descoberta de preço, que itera até o acordo.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059936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ACHADO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O ciclo 2 </a:t>
            </a:r>
            <a:r>
              <a:rPr sz="1000" b="1">
                <a:solidFill>
                  <a:srgbClr val="16241D"/>
                </a:solidFill>
                <a:latin typeface="Poppins"/>
              </a:rPr>
              <a:t>não existia como tráfego</a:t>
            </a:r>
            <a:r>
              <a:rPr sz="1000" b="0">
                <a:solidFill>
                  <a:srgbClr val="35473E"/>
                </a:solidFill>
                <a:latin typeface="Poppins"/>
              </a:rPr>
              <a:t>: o agente de mercado lia a programação direto da memória do concentrador, por dentro do processo. O atalho pulava a rede inteira, e por isso o ciclo 2 nunca aparecia em medição nenhuma de comunicação. Hoje ele é uma troca de mensagens de verdade, iniciada pelo DSO, como a arquitetura descreve.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O MERCADO EM OPERAÇÃO · O FLUXO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As duas fases, do início ao acordo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323" y="1572768"/>
            <a:ext cx="7623048" cy="4123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2472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86C"/>
                </a:solidFill>
                <a:latin typeface="Poppins"/>
              </a:rPr>
              <a:t>Diagrama de atividades das duas fases. À esquerda, a programação do dia seguinte, que itera até o preço convergir. À direita, a operação, que a cada 15 minutos confere o desvio e corrige. Releitura do diagrama da referência (MELO, 2022) com as mudanças deste trabalho.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RESULTADO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A negociação elimina a subtensão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72768"/>
          <a:ext cx="10637215" cy="11795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6"/>
              </a:tblGrid>
              <a:tr h="39319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Caso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Tensão mínima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Tensão máxima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Pontos violados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Sem mecanismo de mercado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0,93946 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1,02488 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337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Com a negociação multiagente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0,97033 pu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1,02282 pu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0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026664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4786C"/>
                </a:solidFill>
                <a:latin typeface="Poppins"/>
              </a:rPr>
              <a:t>O horário crítico é </a:t>
            </a:r>
            <a:r>
              <a:rPr sz="1050" b="1">
                <a:solidFill>
                  <a:srgbClr val="16241D"/>
                </a:solidFill>
                <a:latin typeface="Poppins"/>
              </a:rPr>
              <a:t>17:45</a:t>
            </a:r>
            <a:r>
              <a:rPr sz="1050" b="0">
                <a:solidFill>
                  <a:srgbClr val="64786C"/>
                </a:solidFill>
                <a:latin typeface="Poppins"/>
              </a:rPr>
              <a:t>, quando a demanda sobe e a geração solar já caiu. É o mesmo horário que a tese relata, e não por coincidência: sai da mesma curva de carga com o mesmo dimensionamento por nó.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RESULTADO · TENSÃO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O dia inteiro, com e sem o mercado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22" y="1572768"/>
            <a:ext cx="10034451" cy="38313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321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86C"/>
                </a:solidFill>
                <a:latin typeface="Poppins"/>
              </a:rPr>
              <a:t>Tensão mínima e máxima da rede ao longo das 24 horas. A faixa cinza é a banda operacional de 0,97 a 1,03 pu. Sem negociação, a mínima mergulha abaixo do limite no fim da tarde; com negociação, ela encosta no limite e não o cruza.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61303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4786C"/>
                </a:solidFill>
                <a:latin typeface="Poppins"/>
              </a:rPr>
              <a:t>Repare que o mercado </a:t>
            </a:r>
            <a:r>
              <a:rPr sz="1000" b="1">
                <a:solidFill>
                  <a:srgbClr val="16241D"/>
                </a:solidFill>
                <a:latin typeface="Poppins"/>
              </a:rPr>
              <a:t>não</a:t>
            </a:r>
            <a:r>
              <a:rPr sz="1000" b="0">
                <a:solidFill>
                  <a:srgbClr val="64786C"/>
                </a:solidFill>
                <a:latin typeface="Poppins"/>
              </a:rPr>
              <a:t> afasta a tensão do limite mais do que o necessário: ele resolve a violação ao custo mínimo, que é exatamente o que a função objetivo pede.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RESULTADO · COMO O AGENTE ATUOU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A negociação, rodada a rodada, num nó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706" y="1572768"/>
            <a:ext cx="6066282" cy="3831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321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86C"/>
                </a:solidFill>
                <a:latin typeface="Poppins"/>
              </a:rPr>
              <a:t>Programação do armazenamento no nó 54, o de maior discordância. Em cima, o que o concentrador propõe; embaixo, o que o DSO aceita. As cores vão da primeira rodada à última.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61304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4786C"/>
                </a:solidFill>
                <a:latin typeface="Poppins"/>
              </a:rPr>
              <a:t>O padrão é o esperado de um armazenamento que responde a preço: </a:t>
            </a:r>
            <a:r>
              <a:rPr sz="1000" b="1">
                <a:solidFill>
                  <a:srgbClr val="16241D"/>
                </a:solidFill>
                <a:latin typeface="Poppins"/>
              </a:rPr>
              <a:t>carrega de madrugada</a:t>
            </a:r>
            <a:r>
              <a:rPr sz="1000" b="0">
                <a:solidFill>
                  <a:srgbClr val="64786C"/>
                </a:solidFill>
                <a:latin typeface="Poppins"/>
              </a:rPr>
              <a:t>, quando a energia é barata, e </a:t>
            </a:r>
            <a:r>
              <a:rPr sz="1000" b="1">
                <a:solidFill>
                  <a:srgbClr val="16241D"/>
                </a:solidFill>
                <a:latin typeface="Poppins"/>
              </a:rPr>
              <a:t>descarrega no fim da tarde</a:t>
            </a:r>
            <a:r>
              <a:rPr sz="1000" b="0">
                <a:solidFill>
                  <a:srgbClr val="64786C"/>
                </a:solidFill>
                <a:latin typeface="Poppins"/>
              </a:rPr>
              <a:t>, quando é cara e a rede está no pior momento. O movimento entre rodadas é quase todo no início; daí as rodadas serem espaçadas em escala logarítmica na figura.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RESULTADO · PREÇO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Onde e quando o preço apareceu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694" y="1572768"/>
            <a:ext cx="7238307" cy="35387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239511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86C"/>
                </a:solidFill>
                <a:latin typeface="Poppins"/>
              </a:rPr>
              <a:t>Adicional de preço por nó e por hora, descoberto na negociação. Quanto mais escuro, maior o sinal.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68695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4786C"/>
                </a:solidFill>
                <a:latin typeface="Poppins"/>
              </a:rPr>
              <a:t>O preço não é uniforme: concentra-se nos nós 16 a 28 e em dois horários, a madrugada e o fim da tarde. São exatamente os momentos em que a rede aperta. Onde não há conflito, o adicional é zero.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16241D"/>
                </a:solidFill>
                <a:latin typeface="Poppins"/>
              </a:rPr>
              <a:t>Ressalva honesta:</a:t>
            </a:r>
            <a:r>
              <a:rPr sz="1000" b="0">
                <a:solidFill>
                  <a:srgbClr val="64786C"/>
                </a:solidFill>
                <a:latin typeface="Poppins"/>
              </a:rPr>
              <a:t> a própria tese diz que não trata λ como valor financeiro real, e a formulação confirma: com o peso adimensional adotado, λ tem unidade de potência, não de moeda. Por isso a legenda diz </a:t>
            </a:r>
            <a:r>
              <a:rPr sz="1000" b="0">
                <a:solidFill>
                  <a:srgbClr val="64786C"/>
                </a:solidFill>
                <a:latin typeface="Poppins"/>
              </a:rPr>
              <a:t>sinal</a:t>
            </a:r>
            <a:r>
              <a:rPr sz="1000" b="0">
                <a:solidFill>
                  <a:srgbClr val="64786C"/>
                </a:solidFill>
                <a:latin typeface="Poppins"/>
              </a:rPr>
              <a:t>. Vira preço quando o peso for calibrado em unidade monetária.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RESULTADO · CONVERGÊNCIA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O acordo é medido, não declarado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22" y="1572768"/>
            <a:ext cx="10034451" cy="38313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321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86C"/>
                </a:solidFill>
                <a:latin typeface="Poppins"/>
              </a:rPr>
              <a:t>À esquerda, a discordância entre concentrador e DSO caindo ao longo das rodadas. À direita, o preço sombra estabilizando.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61303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4786C"/>
                </a:solidFill>
                <a:latin typeface="Poppins"/>
              </a:rPr>
              <a:t>O critério de parada da formulação original compara a </a:t>
            </a:r>
            <a:r>
              <a:rPr sz="1000" b="1">
                <a:solidFill>
                  <a:srgbClr val="16241D"/>
                </a:solidFill>
                <a:latin typeface="Poppins"/>
              </a:rPr>
              <a:t>variação</a:t>
            </a:r>
            <a:r>
              <a:rPr sz="1000" b="0">
                <a:solidFill>
                  <a:srgbClr val="64786C"/>
                </a:solidFill>
                <a:latin typeface="Poppins"/>
              </a:rPr>
              <a:t> do preço, e não a discordância em si. Isso é um resíduo escalado pelo passo, e com passo decrescente ele dispara cedo demais: a curva verde declara convergência com discordância cinco vezes pior que a azul. Reportamos os dois lado a lado, e a comparação honesta é pela discordância.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A CAMADA DE COMUNICAÇÃO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A rede que carrega a negociação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Uma rede </a:t>
            </a:r>
            <a:r>
              <a:rPr sz="1200" b="1">
                <a:solidFill>
                  <a:srgbClr val="16241D"/>
                </a:solidFill>
                <a:latin typeface="Poppins"/>
              </a:rPr>
              <a:t>LPWA 6TiSCH</a:t>
            </a:r>
            <a:r>
              <a:rPr sz="1200" b="0">
                <a:solidFill>
                  <a:srgbClr val="35473E"/>
                </a:solidFill>
                <a:latin typeface="Poppins"/>
              </a:rPr>
              <a:t>, sem fio, de baixa potência: o padrão IEEE 802.15.4g a 50 kbps, com salto de canal e acesso por divisão de tempo.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Cada enlace recebe uma taxa de erro que depende da distância, pelo modelo de propagação Pister-Hack. As mensagens são roteadas por múltiplos saltos até o destino, e o atraso sai da própria simulação de eventos no OMNeT++.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As coordenadas dos agentes e a matriz de adjacência são </a:t>
            </a:r>
            <a:r>
              <a:rPr sz="1200" b="1">
                <a:solidFill>
                  <a:srgbClr val="16241D"/>
                </a:solidFill>
                <a:latin typeface="Poppins"/>
              </a:rPr>
              <a:t>dados publicados</a:t>
            </a:r>
            <a:r>
              <a:rPr sz="1200" b="0">
                <a:solidFill>
                  <a:srgbClr val="35473E"/>
                </a:solidFill>
                <a:latin typeface="Poppins"/>
              </a:rPr>
              <a:t> pela tese, lidos do arquivo. Numa primeira versão nós a regenerávamos, o que exige supor o orçamento de rádio: a suposição natural produziu uma rede duas vezes e meia mais densa, e resultados de comunicação otimistas.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238498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578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enlaces viáveis entre os 77 agentes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6543" y="1664208"/>
            <a:ext cx="238498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3,18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saltos em média por mensagem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1664208"/>
            <a:ext cx="238498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4,04 s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para percorrer um slotframe de 101 timeslots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5151" y="1664208"/>
            <a:ext cx="2384983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127 B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por quadro, o máximo do padrão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COMUNICAÇÃO ·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Erro de pacote em função da distância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19" y="1572768"/>
            <a:ext cx="10057257" cy="3831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321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86C"/>
                </a:solidFill>
                <a:latin typeface="Poppins"/>
              </a:rPr>
              <a:t>À esquerda, a taxa de erro de cada par de agentes em função da distância, separando quem tem enlace de quem não tem. À direita, a fração de pares com enlace por faixa de distância.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61304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4786C"/>
                </a:solidFill>
                <a:latin typeface="Poppins"/>
              </a:rPr>
              <a:t>O espalhamento vertical é o próprio modelo: a mesma distância pode dar erro alto ou baixo, conforme o desvio de propagação sorteado para aquele par. O alcance efetivo da rede cai rápido: </a:t>
            </a:r>
            <a:r>
              <a:rPr sz="1000" b="1">
                <a:solidFill>
                  <a:srgbClr val="16241D"/>
                </a:solidFill>
                <a:latin typeface="Poppins"/>
              </a:rPr>
              <a:t>84% dos pares se conectam até 100 m</a:t>
            </a:r>
            <a:r>
              <a:rPr sz="1000" b="0">
                <a:solidFill>
                  <a:srgbClr val="64786C"/>
                </a:solidFill>
                <a:latin typeface="Poppins"/>
              </a:rPr>
              <a:t>, e praticamente nada além de 500 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COMUNICAÇÃO ·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Cada ciclo cabe na sua fatia de tempo?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7" y="1572768"/>
            <a:ext cx="7488520" cy="38313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53211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86C"/>
                </a:solidFill>
                <a:latin typeface="Poppins"/>
              </a:rPr>
              <a:t>Tempo de rede consumido por cada ciclo, contra a fatia que ele tem dentro da janela de 15 minutos. Escala logarítmica.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61303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4786C"/>
                </a:solidFill>
                <a:latin typeface="Poppins"/>
              </a:rPr>
              <a:t>Isoladamente, os três cabem. O aperto é que o ciclo 3 </a:t>
            </a:r>
            <a:r>
              <a:rPr sz="1000" b="1">
                <a:solidFill>
                  <a:srgbClr val="16241D"/>
                </a:solidFill>
                <a:latin typeface="Poppins"/>
              </a:rPr>
              <a:t>se repete</a:t>
            </a:r>
            <a:r>
              <a:rPr sz="1000" b="0">
                <a:solidFill>
                  <a:srgbClr val="64786C"/>
                </a:solidFill>
                <a:latin typeface="Poppins"/>
              </a:rPr>
              <a:t>: são 34 rodadas de descoberta de preço, e o acumulado passa de 3.000 segundos contra uma fatia de 300. Na programação do dia seguinte isso não é problema, porque há horas disponíveis. Na operação em tempo real, cabem cerca de cinco rodadas.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O ACHADO QUE SÓ A CO-SIMULAÇÃO REVELA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A mensagem real não cabe na rede projetada para ela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72768"/>
          <a:ext cx="10637215" cy="1874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7490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Mensagem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Quadros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Perda no pior enlace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Chamada declarada, 100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2,56%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Proposta declarada, 1250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22,84%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Proposta real, 27.275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215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99,62%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Chamada real, 35.663 B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281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99,93%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72160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4786C"/>
                </a:solidFill>
                <a:latin typeface="Poppins"/>
              </a:rPr>
              <a:t>A implementação de referência informa ao simulador de rede um tamanho de mensagem </a:t>
            </a:r>
            <a:r>
              <a:rPr sz="1050" b="1">
                <a:solidFill>
                  <a:srgbClr val="16241D"/>
                </a:solidFill>
                <a:latin typeface="Poppins"/>
              </a:rPr>
              <a:t>arbitrário</a:t>
            </a:r>
            <a:r>
              <a:rPr sz="1050" b="0">
                <a:solidFill>
                  <a:srgbClr val="64786C"/>
                </a:solidFill>
                <a:latin typeface="Poppins"/>
              </a:rPr>
              <a:t>: 100 bytes para a chamada, 1000 a 1500 para a proposta. Para a fase de operação isso está certo, e nós medimos 1.004 bytes.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4786C"/>
                </a:solidFill>
                <a:latin typeface="Poppins"/>
              </a:rPr>
              <a:t>Mas a programação do dia seguinte carrega o preço de </a:t>
            </a:r>
            <a:r>
              <a:rPr sz="1050" b="1">
                <a:solidFill>
                  <a:srgbClr val="16241D"/>
                </a:solidFill>
                <a:latin typeface="Poppins"/>
              </a:rPr>
              <a:t>25 nós por 96 intervalos</a:t>
            </a:r>
            <a:r>
              <a:rPr sz="1050" b="0">
                <a:solidFill>
                  <a:srgbClr val="64786C"/>
                </a:solidFill>
                <a:latin typeface="Poppins"/>
              </a:rPr>
              <a:t> a cada rodada. O conteúdo real é de </a:t>
            </a:r>
            <a:r>
              <a:rPr sz="1050" b="1">
                <a:solidFill>
                  <a:srgbClr val="16241D"/>
                </a:solidFill>
                <a:latin typeface="Poppins"/>
              </a:rPr>
              <a:t>35.663 bytes</a:t>
            </a:r>
            <a:r>
              <a:rPr sz="1050" b="0">
                <a:solidFill>
                  <a:srgbClr val="64786C"/>
                </a:solidFill>
                <a:latin typeface="Poppins"/>
              </a:rPr>
              <a:t>, ou 281 quadros.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4786C"/>
                </a:solidFill>
                <a:latin typeface="Poppins"/>
              </a:rPr>
              <a:t>Perder qualquer fragmento perde a mensagem inteira. Um enlace tolerável para um quadro é fatal para 281, e o concentrador que fica atrás dele </a:t>
            </a:r>
            <a:r>
              <a:rPr sz="1050" b="1">
                <a:solidFill>
                  <a:srgbClr val="16241D"/>
                </a:solidFill>
                <a:latin typeface="Poppins"/>
              </a:rPr>
              <a:t>se torna incomunicável</a:t>
            </a:r>
            <a:r>
              <a:rPr sz="1050" b="0">
                <a:solidFill>
                  <a:srgbClr val="64786C"/>
                </a:solidFill>
                <a:latin typeface="Poppins"/>
              </a:rPr>
              <a:t>: a negociação não completa.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050" b="1">
                <a:solidFill>
                  <a:srgbClr val="16241D"/>
                </a:solidFill>
                <a:latin typeface="Poppins"/>
              </a:rPr>
              <a:t>O número de projeto:</a:t>
            </a:r>
            <a:r>
              <a:rPr sz="1050" b="0">
                <a:solidFill>
                  <a:srgbClr val="64786C"/>
                </a:solidFill>
                <a:latin typeface="Poppins"/>
              </a:rPr>
              <a:t> a chamada precisaria encolher de 35,7 kB para cerca de </a:t>
            </a:r>
            <a:r>
              <a:rPr sz="1050" b="1">
                <a:solidFill>
                  <a:srgbClr val="16241D"/>
                </a:solidFill>
                <a:latin typeface="Poppins"/>
              </a:rPr>
              <a:t>500 bytes</a:t>
            </a:r>
            <a:r>
              <a:rPr sz="1050" b="0">
                <a:solidFill>
                  <a:srgbClr val="64786C"/>
                </a:solidFill>
                <a:latin typeface="Poppins"/>
              </a:rPr>
              <a:t>, um fator de 70. Enviar só o que mudou, ou só a parcela do nó destinatário, deixa de ser refinamento e vira requisito.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O que confere com a referência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72768"/>
          <a:ext cx="10637215" cy="32644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6"/>
              </a:tblGrid>
              <a:tr h="36271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Grandeza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Tese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Aqui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64786C"/>
                          </a:solidFill>
                          <a:latin typeface="Consolas"/>
                        </a:rPr>
                        <a:t>Situação</a:t>
                      </a:r>
                    </a:p>
                  </a:txBody>
                  <a:tcPr anchor="ctr">
                    <a:solidFill>
                      <a:srgbClr val="FBFEF6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Tensão às 17:45, sem e com armazenamento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0,94 → 0,97 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0,93946 → 0,97033 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confere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Horário crítico de subtensão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17:45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17:45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confere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Horário crítico de sobretensão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10:00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10:00–11:00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confere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Enlaces da rede de comunicação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confere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Modelo de rede elétrica, barra a barra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2,08e-5 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validado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Matriz de sensibilidade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0,04% mediano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validado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Preço sombra máximo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2,18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2,359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8%, reconciliado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Rodadas até convergir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8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9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5473E"/>
                          </a:solidFill>
                          <a:latin typeface="Poppins"/>
                        </a:rPr>
                        <a:t>reconciliado</a:t>
                      </a:r>
                    </a:p>
                  </a:txBody>
                  <a:tcPr anchor="ctr">
                    <a:solidFill>
                      <a:srgbClr val="E4F0E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111496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rgbClr val="64786C"/>
                </a:solidFill>
                <a:latin typeface="Poppins"/>
              </a:rPr>
              <a:t>As duas últimas linhas exigiram um experimento próprio: desligar, uma a uma, as diferenças de modelagem que acrescentamos. O fator dominante era o </a:t>
            </a:r>
            <a:r>
              <a:rPr sz="1050" b="1">
                <a:solidFill>
                  <a:srgbClr val="16241D"/>
                </a:solidFill>
                <a:latin typeface="Poppins"/>
              </a:rPr>
              <a:t>modelo estocástico</a:t>
            </a:r>
            <a:r>
              <a:rPr sz="1050" b="0">
                <a:solidFill>
                  <a:srgbClr val="64786C"/>
                </a:solidFill>
                <a:latin typeface="Poppins"/>
              </a:rPr>
              <a:t> — o prosumidor que decide sob incerteza programa de forma menos agressiva e estressa menos a rede. E as rodadas eram o </a:t>
            </a:r>
            <a:r>
              <a:rPr sz="1050" b="1">
                <a:solidFill>
                  <a:srgbClr val="16241D"/>
                </a:solidFill>
                <a:latin typeface="Poppins"/>
              </a:rPr>
              <a:t>critério de parada</a:t>
            </a:r>
            <a:r>
              <a:rPr sz="1050" b="0">
                <a:solidFill>
                  <a:srgbClr val="64786C"/>
                </a:solidFill>
                <a:latin typeface="Poppins"/>
              </a:rPr>
              <a:t>, três ordens de grandeza mais frouxo na referência.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O QUE ESTE TRABALHO ACRESCENTA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Além de portar, o que mudou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PLATAFORMA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Um modelo de rede, não dois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A referência mantinha dois modelos da mesma rede, que divergiam em transformador e em modelo de carga. Unificados em OpenDSS.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MÉTODO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Sensibilidade por perturbação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Dispensa o segundo simulador e vale para rede desequilibrada. Agora também com reativo.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8716" y="157276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PROTOCOLO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Retransmissão e contabilidade própria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O ContractNet do PADE supõe entrega instantânea: sem perda nenhuma, só com atraso, o ciclo fechava com 19 das 25 programações.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8444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ECONOMIA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Liquidação e preço locacional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A referência propõe os dois mercados e não liquida as transações. Aqui elas são registradas, com a unidade declarada.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58444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RIGOR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Convergência publicada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Curva de convergência com resíduo primal ao lado do critério original, o que expõe quando o critério engana.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8716" y="3584448"/>
            <a:ext cx="3381146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DE7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0584" bIns="100584"/>
          <a:lstStyle/>
          <a:p>
            <a:pPr algn="l">
              <a:spcAft>
                <a:spcPts val="300"/>
              </a:spcAft>
            </a:pPr>
            <a:r>
              <a:rPr sz="800">
                <a:solidFill>
                  <a:srgbClr val="64786C"/>
                </a:solidFill>
                <a:latin typeface="Consolas"/>
              </a:rPr>
              <a:t>ENGENHARIA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6241D"/>
                </a:solidFill>
                <a:latin typeface="Exo 2"/>
              </a:rPr>
              <a:t>Execução reprodutível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5473E"/>
                </a:solidFill>
                <a:latin typeface="Poppins"/>
              </a:rPr>
              <a:t>Um contêiner por simulador, comando único, e cada figura carimbada com a configuração que a produziu.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O que vem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1.  </a:t>
            </a:r>
            <a:r>
              <a:rPr sz="1200" b="1">
                <a:solidFill>
                  <a:srgbClr val="16241D"/>
                </a:solidFill>
                <a:latin typeface="Poppins"/>
              </a:rPr>
              <a:t>Melhorar a comunicação pelo OMNeT++.</a:t>
            </a:r>
            <a:r>
              <a:rPr sz="1200" b="0">
                <a:solidFill>
                  <a:srgbClr val="35473E"/>
                </a:solidFill>
                <a:latin typeface="Poppins"/>
              </a:rPr>
              <a:t> A medição mostrou que a mensagem real não trafega: a chamada precisa cair de 35,7 kB para cerca de 500 bytes. Enviar só o que mudou, ou só a parcela do nó destinatário, deixa de ser refinamento e vira requisito.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2.  </a:t>
            </a:r>
            <a:r>
              <a:rPr sz="1200" b="1">
                <a:solidFill>
                  <a:srgbClr val="16241D"/>
                </a:solidFill>
                <a:latin typeface="Poppins"/>
              </a:rPr>
              <a:t>Testar sem o modelo estocástico.</a:t>
            </a:r>
            <a:r>
              <a:rPr sz="1200" b="0">
                <a:solidFill>
                  <a:srgbClr val="35473E"/>
                </a:solidFill>
                <a:latin typeface="Poppins"/>
              </a:rPr>
              <a:t> Rodar o prosumidor como </a:t>
            </a:r>
            <a:r>
              <a:rPr sz="1200" b="1">
                <a:solidFill>
                  <a:srgbClr val="16241D"/>
                </a:solidFill>
                <a:latin typeface="Poppins"/>
              </a:rPr>
              <a:t>MILP determinístico no CPLEX</a:t>
            </a:r>
            <a:r>
              <a:rPr sz="1200" b="0">
                <a:solidFill>
                  <a:srgbClr val="35473E"/>
                </a:solidFill>
                <a:latin typeface="Poppins"/>
              </a:rPr>
              <a:t>, em vez da forma extensiva com cenários. Custa menos tempo de solver e isola quanto da folga vem da incerteza: a ablação já indicou que é o fator dominante no preço sombra.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3.  </a:t>
            </a:r>
            <a:r>
              <a:rPr sz="1200" b="1">
                <a:solidFill>
                  <a:srgbClr val="16241D"/>
                </a:solidFill>
                <a:latin typeface="Poppins"/>
              </a:rPr>
              <a:t>Montar uma rede menor para teste.</a:t>
            </a:r>
            <a:r>
              <a:rPr sz="1200" b="0">
                <a:solidFill>
                  <a:srgbClr val="35473E"/>
                </a:solidFill>
                <a:latin typeface="Poppins"/>
              </a:rPr>
              <a:t> Cada execução completa leva dezenas de minutos, o que trava o ciclo de tentativa e erro. Uma rede reduzida permite iterar rápido e ainda assim exercitar o mecanismo.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4.  </a:t>
            </a:r>
            <a:r>
              <a:rPr sz="1200" b="1">
                <a:solidFill>
                  <a:srgbClr val="16241D"/>
                </a:solidFill>
                <a:latin typeface="Poppins"/>
              </a:rPr>
              <a:t>Verificar o coordenador de preço nos dois sentidos.</a:t>
            </a:r>
            <a:r>
              <a:rPr sz="1200" b="0">
                <a:solidFill>
                  <a:srgbClr val="35473E"/>
                </a:solidFill>
                <a:latin typeface="Poppins"/>
              </a:rPr>
              <a:t> Até aqui a restrição que aperta é a de </a:t>
            </a:r>
            <a:r>
              <a:rPr sz="1200" b="0">
                <a:solidFill>
                  <a:srgbClr val="35473E"/>
                </a:solidFill>
                <a:latin typeface="Poppins"/>
              </a:rPr>
              <a:t>subtensão</a:t>
            </a:r>
            <a:r>
              <a:rPr sz="1200" b="0">
                <a:solidFill>
                  <a:srgbClr val="35473E"/>
                </a:solidFill>
                <a:latin typeface="Poppins"/>
              </a:rPr>
              <a:t>. Falta construir um caso em que a </a:t>
            </a:r>
            <a:r>
              <a:rPr sz="1200" b="0">
                <a:solidFill>
                  <a:srgbClr val="35473E"/>
                </a:solidFill>
                <a:latin typeface="Poppins"/>
              </a:rPr>
              <a:t>sobretensão</a:t>
            </a:r>
            <a:r>
              <a:rPr sz="1200" b="0">
                <a:solidFill>
                  <a:srgbClr val="35473E"/>
                </a:solidFill>
                <a:latin typeface="Poppins"/>
              </a:rPr>
              <a:t> seja o vínculo ativo, para confirmar que o preço atua nos dois extremos da faixa e não só num deles.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EM UMA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O mercado transativo saiu do papel e entrou na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Trinta e três agentes negociam a programação do armazenamento de um dia inteiro, o preço emerge da disputa em vez de ser arbitrado, e a subtensão que existiria em 337 pontos da rede desaparece — com as mensagens passando por uma rede de comunicação sem fio que atrasa, perde pacote e às vezes não entrega.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5473E"/>
                </a:solidFill>
                <a:latin typeface="Poppins"/>
              </a:rPr>
              <a:t>Documentação completa no repositório: </a:t>
            </a:r>
            <a:r>
              <a:rPr sz="1200" b="0">
                <a:solidFill>
                  <a:srgbClr val="35473E"/>
                </a:solidFill>
                <a:latin typeface="Poppins"/>
              </a:rPr>
              <a:t>MERCADO.md</a:t>
            </a:r>
            <a:r>
              <a:rPr sz="1200" b="0">
                <a:solidFill>
                  <a:srgbClr val="35473E"/>
                </a:solidFill>
                <a:latin typeface="Poppins"/>
              </a:rPr>
              <a:t> para a formulação, </a:t>
            </a:r>
            <a:r>
              <a:rPr sz="1200" b="0">
                <a:solidFill>
                  <a:srgbClr val="35473E"/>
                </a:solidFill>
                <a:latin typeface="Poppins"/>
              </a:rPr>
              <a:t>COMPARACAO_TESE.md</a:t>
            </a:r>
            <a:r>
              <a:rPr sz="1200" b="0">
                <a:solidFill>
                  <a:srgbClr val="35473E"/>
                </a:solidFill>
                <a:latin typeface="Poppins"/>
              </a:rPr>
              <a:t> para o confronto com a referência, </a:t>
            </a:r>
            <a:r>
              <a:rPr sz="1200" b="0">
                <a:solidFill>
                  <a:srgbClr val="35473E"/>
                </a:solidFill>
                <a:latin typeface="Poppins"/>
              </a:rPr>
              <a:t>GUIA.md</a:t>
            </a:r>
            <a:r>
              <a:rPr sz="1200" b="0">
                <a:solidFill>
                  <a:srgbClr val="35473E"/>
                </a:solidFill>
                <a:latin typeface="Poppins"/>
              </a:rPr>
              <a:t> para quem chega agora.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327141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0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violações de tensão após a negociação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2978" y="1664208"/>
            <a:ext cx="327141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2,08e-5 pu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erro do modelo elétrico contra a referência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8716" y="1664208"/>
            <a:ext cx="327141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5E4B"/>
                </a:solidFill>
                <a:latin typeface="Exo 2"/>
              </a:rPr>
              <a:t>8%</a:t>
            </a:r>
          </a:p>
          <a:p>
            <a:pPr>
              <a:spcBef>
                <a:spcPts val="300"/>
              </a:spcBef>
            </a:pPr>
            <a:r>
              <a:rPr sz="950" b="0">
                <a:solidFill>
                  <a:srgbClr val="64786C"/>
                </a:solidFill>
                <a:latin typeface="Poppins"/>
              </a:rPr>
              <a:t>diferença no preço sombra, com causa medida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MELO, L. S. </a:t>
            </a:r>
            <a:r>
              <a:rPr sz="1200" b="1">
                <a:solidFill>
                  <a:srgbClr val="16241D"/>
                </a:solidFill>
                <a:latin typeface="Poppins"/>
              </a:rPr>
              <a:t>Modelo de simulação computacional multidomínio para análise de redes elétricas inteligentes com aplicação em transações econômicas de energia.</a:t>
            </a:r>
            <a:r>
              <a:rPr sz="1200" b="0">
                <a:solidFill>
                  <a:srgbClr val="35473E"/>
                </a:solidFill>
                <a:latin typeface="Poppins"/>
              </a:rPr>
              <a:t> Tese de doutorado, Universidade Federal do Ceará, Fortaleza, 2022.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MELO, L. S.; TOFOLI, F. L.; ISSICABA, D.; MONTEIRO, M. E. P.; BARROSO, G. C.; SAMPAIO, R. F.; LEÃO, R. P. S. </a:t>
            </a:r>
            <a:r>
              <a:rPr sz="1200" b="1">
                <a:solidFill>
                  <a:srgbClr val="16241D"/>
                </a:solidFill>
                <a:latin typeface="Poppins"/>
              </a:rPr>
              <a:t>Co-simulation platform for the assessment of transactive energy systems.</a:t>
            </a:r>
            <a:r>
              <a:rPr sz="1200" b="0">
                <a:solidFill>
                  <a:srgbClr val="35473E"/>
                </a:solidFill>
                <a:latin typeface="Poppins"/>
              </a:rPr>
              <a:t> Electric Power Systems Research, v. 223, 109693, 2023.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MELO, L. S.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Integração PADE/Mosaik para simulação de sistemas multiagentes em redes elétricas inteligentes.</a:t>
            </a:r>
            <a:r>
              <a:rPr sz="1200" b="0">
                <a:solidFill>
                  <a:srgbClr val="35473E"/>
                </a:solidFill>
                <a:latin typeface="Poppins"/>
              </a:rPr>
              <a:t> 2020.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KOK, K. </a:t>
            </a:r>
            <a:r>
              <a:rPr sz="1200" b="1">
                <a:solidFill>
                  <a:srgbClr val="16241D"/>
                </a:solidFill>
                <a:latin typeface="Poppins"/>
              </a:rPr>
              <a:t>The PowerMatcher: smart coordination for the smart electricity grid.</a:t>
            </a:r>
            <a:r>
              <a:rPr sz="1200" b="0">
                <a:solidFill>
                  <a:srgbClr val="35473E"/>
                </a:solidFill>
                <a:latin typeface="Poppins"/>
              </a:rPr>
              <a:t> Tese de doutorado, Vrije Universiteit Amsterdam, 2013.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HU, J.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Application of network-constrained transactive control to electric vehicle charging for secure grid operation.</a:t>
            </a:r>
            <a:r>
              <a:rPr sz="1200" b="0">
                <a:solidFill>
                  <a:srgbClr val="35473E"/>
                </a:solidFill>
                <a:latin typeface="Poppins"/>
              </a:rPr>
              <a:t> IEEE Transactions on Sustainable Energy, 2017.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ABRISHAMBAF, O.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Towards transactive energy systems: an analysis on current trends.</a:t>
            </a:r>
            <a:r>
              <a:rPr sz="1200" b="0">
                <a:solidFill>
                  <a:srgbClr val="35473E"/>
                </a:solidFill>
                <a:latin typeface="Poppins"/>
              </a:rPr>
              <a:t> Energy Strategy Reviews, 2019.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144768"/>
            <a:ext cx="731520" cy="524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66928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F5E4B"/>
                </a:solidFill>
                <a:latin typeface="Consolas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6241D"/>
                </a:solidFill>
                <a:latin typeface="Exo 2"/>
              </a:rPr>
              <a:t>Referências (continuação)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LE, T. N.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Modelo de propagação Pister-Hack.</a:t>
            </a:r>
            <a:r>
              <a:rPr sz="1200" b="0">
                <a:solidFill>
                  <a:srgbClr val="35473E"/>
                </a:solidFill>
                <a:latin typeface="Poppins"/>
              </a:rPr>
              <a:t> 2009.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MUNICIO, E.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Simulating 6TiSCH networks.</a:t>
            </a:r>
            <a:r>
              <a:rPr sz="1200" b="0">
                <a:solidFill>
                  <a:srgbClr val="35473E"/>
                </a:solidFill>
                <a:latin typeface="Poppins"/>
              </a:rPr>
              <a:t> Transactions on Emerging Telecommunications Technologies, 2019.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PRANDO, L. R.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Experimental performance comparison of emerging low power wide area networking technologies.</a:t>
            </a:r>
            <a:r>
              <a:rPr sz="1200" b="0">
                <a:solidFill>
                  <a:srgbClr val="35473E"/>
                </a:solidFill>
                <a:latin typeface="Poppins"/>
              </a:rPr>
              <a:t> 2019.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PETAJAJARVI, J.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On the coverage of LPWANs: range evaluation and channel attenuation model.</a:t>
            </a:r>
            <a:r>
              <a:rPr sz="1200" b="0">
                <a:solidFill>
                  <a:srgbClr val="35473E"/>
                </a:solidFill>
                <a:latin typeface="Poppins"/>
              </a:rPr>
              <a:t> 2015.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SPALTHOFF, C.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SimBench: open source dataset for comparable benchmarking.</a:t>
            </a:r>
            <a:r>
              <a:rPr sz="1200" b="0">
                <a:solidFill>
                  <a:srgbClr val="35473E"/>
                </a:solidFill>
                <a:latin typeface="Poppins"/>
              </a:rPr>
              <a:t> 2019.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DUGAN, R. C.; McDERMOTT, T. E. </a:t>
            </a:r>
            <a:r>
              <a:rPr sz="1200" b="1">
                <a:solidFill>
                  <a:srgbClr val="16241D"/>
                </a:solidFill>
                <a:latin typeface="Poppins"/>
              </a:rPr>
              <a:t>An open source platform for collaborating on smart grid research.</a:t>
            </a:r>
            <a:r>
              <a:rPr sz="1200" b="0">
                <a:solidFill>
                  <a:srgbClr val="35473E"/>
                </a:solidFill>
                <a:latin typeface="Poppins"/>
              </a:rPr>
              <a:t> IEEE PES General Meeting, 2011. (OpenDSS)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RADATZ, P. </a:t>
            </a:r>
            <a:r>
              <a:rPr sz="1200" b="1">
                <a:solidFill>
                  <a:srgbClr val="16241D"/>
                </a:solidFill>
                <a:latin typeface="Poppins"/>
              </a:rPr>
              <a:t>py-dss-interface</a:t>
            </a:r>
            <a:r>
              <a:rPr sz="1200" b="0">
                <a:solidFill>
                  <a:srgbClr val="35473E"/>
                </a:solidFill>
                <a:latin typeface="Poppins"/>
              </a:rPr>
              <a:t>, interface Python para o OpenDSS.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SCHÜTTE, S.; SCHERFKE, S.; TRÖSCHEL, M. </a:t>
            </a:r>
            <a:r>
              <a:rPr sz="1200" b="1">
                <a:solidFill>
                  <a:srgbClr val="16241D"/>
                </a:solidFill>
                <a:latin typeface="Poppins"/>
              </a:rPr>
              <a:t>Mosaik: a framework for modular simulation of active components in smart grids.</a:t>
            </a:r>
            <a:r>
              <a:rPr sz="1200" b="0">
                <a:solidFill>
                  <a:srgbClr val="35473E"/>
                </a:solidFill>
                <a:latin typeface="Poppins"/>
              </a:rPr>
              <a:t> 2011.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VARGA, A.; HORNIG, R. </a:t>
            </a:r>
            <a:r>
              <a:rPr sz="1200" b="1">
                <a:solidFill>
                  <a:srgbClr val="16241D"/>
                </a:solidFill>
                <a:latin typeface="Poppins"/>
              </a:rPr>
              <a:t>An overview of the OMNeT++ simulation environment.</a:t>
            </a:r>
            <a:r>
              <a:rPr sz="1200" b="0">
                <a:solidFill>
                  <a:srgbClr val="35473E"/>
                </a:solidFill>
                <a:latin typeface="Poppins"/>
              </a:rPr>
              <a:t> Simutools, 2008.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MELO, L. S.; SAMPAIO, R. F.; LEÃO, R. P. S.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PADE: Python Agent DEvelopment framework.</a:t>
            </a:r>
            <a:r>
              <a:rPr sz="1200" b="0">
                <a:solidFill>
                  <a:srgbClr val="35473E"/>
                </a:solidFill>
                <a:latin typeface="Poppins"/>
              </a:rPr>
              <a:t> GREI-UFC.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HART, W. E. et al. </a:t>
            </a:r>
            <a:r>
              <a:rPr sz="1200" b="1">
                <a:solidFill>
                  <a:srgbClr val="16241D"/>
                </a:solidFill>
                <a:latin typeface="Poppins"/>
              </a:rPr>
              <a:t>Pyomo: optimization modeling in Python.</a:t>
            </a:r>
            <a:r>
              <a:rPr sz="1200" b="0">
                <a:solidFill>
                  <a:srgbClr val="35473E"/>
                </a:solidFill>
                <a:latin typeface="Poppins"/>
              </a:rPr>
              <a:t> Springer, 2017.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2F5E4B"/>
                </a:solidFill>
                <a:latin typeface="Consolas"/>
              </a:rPr>
              <a:t>○  </a:t>
            </a:r>
            <a:r>
              <a:rPr sz="1200" b="0">
                <a:solidFill>
                  <a:srgbClr val="35473E"/>
                </a:solidFill>
                <a:latin typeface="Poppins"/>
              </a:rPr>
              <a:t>Nordpool. </a:t>
            </a:r>
            <a:r>
              <a:rPr sz="1200" b="1">
                <a:solidFill>
                  <a:srgbClr val="16241D"/>
                </a:solidFill>
                <a:latin typeface="Poppins"/>
              </a:rPr>
              <a:t>Série histórica de preço spot.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8575" y="64465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64786C"/>
                </a:solidFill>
                <a:latin typeface="Consolas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